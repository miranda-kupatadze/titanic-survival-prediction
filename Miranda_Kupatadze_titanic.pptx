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Blink Twice" panose="020B0604020202020204" charset="0"/>
      <p:regular r:id="rId7"/>
    </p:embeddedFont>
    <p:embeddedFont>
      <p:font typeface="Canva Sans Bold" panose="020B0604020202020204" charset="0"/>
      <p:regular r:id="rId8"/>
    </p:embeddedFont>
    <p:embeddedFont>
      <p:font typeface="Roboto Mono Bold Italics" panose="020B0604020202020204" charset="0"/>
      <p:regular r:id="rId9"/>
    </p:embeddedFont>
    <p:embeddedFont>
      <p:font typeface="Roboto Mono Italics" panose="020B0604020202020204" charset="0"/>
      <p:regular r:id="rId10"/>
    </p:embeddedFont>
    <p:embeddedFont>
      <p:font typeface="Roboto Mono Medium" panose="00000009000000000000" pitchFamily="49" charset="0"/>
      <p:regular r:id="rId11"/>
    </p:embeddedFont>
    <p:embeddedFont>
      <p:font typeface="Roboto Mono Medium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anda Kupatadze" userId="d6d1f3680971a2f0" providerId="LiveId" clId="{FCCD618A-0437-4DB2-A3E9-D28C1DBB8702}"/>
    <pc:docChg chg="modSld">
      <pc:chgData name="Miranda Kupatadze" userId="d6d1f3680971a2f0" providerId="LiveId" clId="{FCCD618A-0437-4DB2-A3E9-D28C1DBB8702}" dt="2026-01-11T19:08:06.925" v="4" actId="20577"/>
      <pc:docMkLst>
        <pc:docMk/>
      </pc:docMkLst>
      <pc:sldChg chg="modSp mod">
        <pc:chgData name="Miranda Kupatadze" userId="d6d1f3680971a2f0" providerId="LiveId" clId="{FCCD618A-0437-4DB2-A3E9-D28C1DBB8702}" dt="2026-01-11T19:08:06.925" v="4" actId="20577"/>
        <pc:sldMkLst>
          <pc:docMk/>
          <pc:sldMk cId="0" sldId="256"/>
        </pc:sldMkLst>
        <pc:spChg chg="mod">
          <ac:chgData name="Miranda Kupatadze" userId="d6d1f3680971a2f0" providerId="LiveId" clId="{FCCD618A-0437-4DB2-A3E9-D28C1DBB8702}" dt="2026-01-11T19:08:06.925" v="4" actId="20577"/>
          <ac:spMkLst>
            <pc:docMk/>
            <pc:sldMk cId="0" sldId="256"/>
            <ac:spMk id="2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07396" y="-585807"/>
            <a:ext cx="22902791" cy="11458614"/>
            <a:chOff x="0" y="0"/>
            <a:chExt cx="30537055" cy="152781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7630752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7630752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263478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891629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263478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2891629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76868" y="936485"/>
            <a:ext cx="15734265" cy="8414030"/>
            <a:chOff x="0" y="0"/>
            <a:chExt cx="6762470" cy="3616288"/>
          </a:xfrm>
        </p:grpSpPr>
        <p:sp>
          <p:nvSpPr>
            <p:cNvPr id="12" name="Freeform 12"/>
            <p:cNvSpPr/>
            <p:nvPr/>
          </p:nvSpPr>
          <p:spPr>
            <a:xfrm>
              <a:off x="48260" y="48260"/>
              <a:ext cx="6714210" cy="3568028"/>
            </a:xfrm>
            <a:custGeom>
              <a:avLst/>
              <a:gdLst/>
              <a:ahLst/>
              <a:cxnLst/>
              <a:rect l="l" t="t" r="r" b="b"/>
              <a:pathLst>
                <a:path w="6714210" h="3568028">
                  <a:moveTo>
                    <a:pt x="0" y="0"/>
                  </a:moveTo>
                  <a:lnTo>
                    <a:pt x="6714210" y="0"/>
                  </a:lnTo>
                  <a:lnTo>
                    <a:pt x="6714210" y="3568028"/>
                  </a:lnTo>
                  <a:lnTo>
                    <a:pt x="0" y="356802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50" y="6350"/>
              <a:ext cx="6714210" cy="3568028"/>
            </a:xfrm>
            <a:custGeom>
              <a:avLst/>
              <a:gdLst/>
              <a:ahLst/>
              <a:cxnLst/>
              <a:rect l="l" t="t" r="r" b="b"/>
              <a:pathLst>
                <a:path w="6714210" h="3568028">
                  <a:moveTo>
                    <a:pt x="0" y="0"/>
                  </a:moveTo>
                  <a:lnTo>
                    <a:pt x="6714210" y="0"/>
                  </a:lnTo>
                  <a:lnTo>
                    <a:pt x="6714210" y="3568028"/>
                  </a:lnTo>
                  <a:lnTo>
                    <a:pt x="0" y="3568028"/>
                  </a:lnTo>
                  <a:close/>
                </a:path>
              </a:pathLst>
            </a:custGeom>
            <a:solidFill>
              <a:srgbClr val="FFFC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726910" cy="3580728"/>
            </a:xfrm>
            <a:custGeom>
              <a:avLst/>
              <a:gdLst/>
              <a:ahLst/>
              <a:cxnLst/>
              <a:rect l="l" t="t" r="r" b="b"/>
              <a:pathLst>
                <a:path w="6726910" h="3580728">
                  <a:moveTo>
                    <a:pt x="6726910" y="3580728"/>
                  </a:moveTo>
                  <a:lnTo>
                    <a:pt x="0" y="3580728"/>
                  </a:lnTo>
                  <a:lnTo>
                    <a:pt x="0" y="0"/>
                  </a:lnTo>
                  <a:lnTo>
                    <a:pt x="6726910" y="0"/>
                  </a:lnTo>
                  <a:lnTo>
                    <a:pt x="6726910" y="3580728"/>
                  </a:lnTo>
                  <a:close/>
                  <a:moveTo>
                    <a:pt x="12700" y="3568028"/>
                  </a:moveTo>
                  <a:lnTo>
                    <a:pt x="6714210" y="3568028"/>
                  </a:lnTo>
                  <a:lnTo>
                    <a:pt x="6714210" y="12700"/>
                  </a:lnTo>
                  <a:lnTo>
                    <a:pt x="12700" y="12700"/>
                  </a:lnTo>
                  <a:lnTo>
                    <a:pt x="12700" y="356802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276868" y="2416190"/>
            <a:ext cx="15667031" cy="0"/>
          </a:xfrm>
          <a:prstGeom prst="line">
            <a:avLst/>
          </a:prstGeom>
          <a:ln w="19050" cap="flat">
            <a:solidFill>
              <a:srgbClr val="244DB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6" name="AutoShape 16"/>
          <p:cNvSpPr/>
          <p:nvPr/>
        </p:nvSpPr>
        <p:spPr>
          <a:xfrm>
            <a:off x="1276868" y="7813733"/>
            <a:ext cx="15667031" cy="0"/>
          </a:xfrm>
          <a:prstGeom prst="line">
            <a:avLst/>
          </a:prstGeom>
          <a:ln w="19050" cap="flat">
            <a:solidFill>
              <a:srgbClr val="244DB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7" name="Freeform 17"/>
          <p:cNvSpPr/>
          <p:nvPr/>
        </p:nvSpPr>
        <p:spPr>
          <a:xfrm>
            <a:off x="15939861" y="1660380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Freeform 18"/>
          <p:cNvSpPr/>
          <p:nvPr/>
        </p:nvSpPr>
        <p:spPr>
          <a:xfrm>
            <a:off x="15939861" y="8390975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Freeform 19"/>
          <p:cNvSpPr/>
          <p:nvPr/>
        </p:nvSpPr>
        <p:spPr>
          <a:xfrm>
            <a:off x="2152150" y="1660380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2152150" y="8390975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TextBox 21"/>
          <p:cNvSpPr txBox="1"/>
          <p:nvPr/>
        </p:nvSpPr>
        <p:spPr>
          <a:xfrm>
            <a:off x="7357209" y="8419550"/>
            <a:ext cx="356806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DE" sz="1825" b="1" spc="144" dirty="0">
                <a:solidFill>
                  <a:srgbClr val="244DB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Miranda Kupatadze</a:t>
            </a:r>
          </a:p>
          <a:p>
            <a:pPr algn="ctr">
              <a:lnSpc>
                <a:spcPts val="1935"/>
              </a:lnSpc>
            </a:pPr>
            <a:endParaRPr lang="en-US" sz="1825" b="1" spc="144" dirty="0">
              <a:solidFill>
                <a:srgbClr val="244DB6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148834" y="2882589"/>
            <a:ext cx="11984810" cy="313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7"/>
              </a:lnSpc>
            </a:pPr>
            <a:r>
              <a:rPr lang="en-US" sz="6651" spc="312">
                <a:solidFill>
                  <a:srgbClr val="244DB6"/>
                </a:solidFill>
                <a:latin typeface="Blink Twice"/>
                <a:ea typeface="Blink Twice"/>
                <a:cs typeface="Blink Twice"/>
                <a:sym typeface="Blink Twice"/>
              </a:rPr>
              <a:t>TITANIC SURVIVAL PREDICTION</a:t>
            </a:r>
          </a:p>
          <a:p>
            <a:pPr algn="ctr">
              <a:lnSpc>
                <a:spcPts val="8047"/>
              </a:lnSpc>
            </a:pPr>
            <a:endParaRPr lang="en-US" sz="6651" spc="312">
              <a:solidFill>
                <a:srgbClr val="244DB6"/>
              </a:solidFill>
              <a:latin typeface="Blink Twice"/>
              <a:ea typeface="Blink Twice"/>
              <a:cs typeface="Blink Twice"/>
              <a:sym typeface="Blink Twic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80013" y="5734282"/>
            <a:ext cx="9122452" cy="49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2025" b="1" spc="160">
                <a:solidFill>
                  <a:srgbClr val="244DB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endParaRPr lang="en-US" sz="2025" b="1" spc="160" dirty="0">
              <a:solidFill>
                <a:srgbClr val="244DB6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1617"/>
              </a:lnSpc>
            </a:pPr>
            <a:endParaRPr lang="en-US" sz="2025" b="1" spc="160" dirty="0">
              <a:solidFill>
                <a:srgbClr val="244DB6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07396" y="-585807"/>
            <a:ext cx="22902791" cy="11458614"/>
            <a:chOff x="0" y="0"/>
            <a:chExt cx="30537055" cy="152781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7630752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7630752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263478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891629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263478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2891629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473221" y="599189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0" y="0"/>
                </a:lnTo>
                <a:lnTo>
                  <a:pt x="195010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473221" y="9492800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0" y="0"/>
                </a:lnTo>
                <a:lnTo>
                  <a:pt x="195010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7645677" y="599189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4" name="Group 14"/>
          <p:cNvGrpSpPr/>
          <p:nvPr/>
        </p:nvGrpSpPr>
        <p:grpSpPr>
          <a:xfrm>
            <a:off x="1276868" y="2006350"/>
            <a:ext cx="13175662" cy="7344164"/>
            <a:chOff x="0" y="0"/>
            <a:chExt cx="5662802" cy="3156468"/>
          </a:xfrm>
        </p:grpSpPr>
        <p:sp>
          <p:nvSpPr>
            <p:cNvPr id="15" name="Freeform 15"/>
            <p:cNvSpPr/>
            <p:nvPr/>
          </p:nvSpPr>
          <p:spPr>
            <a:xfrm>
              <a:off x="48260" y="48260"/>
              <a:ext cx="5614542" cy="3108208"/>
            </a:xfrm>
            <a:custGeom>
              <a:avLst/>
              <a:gdLst/>
              <a:ahLst/>
              <a:cxnLst/>
              <a:rect l="l" t="t" r="r" b="b"/>
              <a:pathLst>
                <a:path w="5614542" h="3108208">
                  <a:moveTo>
                    <a:pt x="0" y="0"/>
                  </a:moveTo>
                  <a:lnTo>
                    <a:pt x="5614542" y="0"/>
                  </a:lnTo>
                  <a:lnTo>
                    <a:pt x="5614542" y="3108208"/>
                  </a:lnTo>
                  <a:lnTo>
                    <a:pt x="0" y="310820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" y="6350"/>
              <a:ext cx="5614542" cy="3108208"/>
            </a:xfrm>
            <a:custGeom>
              <a:avLst/>
              <a:gdLst/>
              <a:ahLst/>
              <a:cxnLst/>
              <a:rect l="l" t="t" r="r" b="b"/>
              <a:pathLst>
                <a:path w="5614542" h="3108208">
                  <a:moveTo>
                    <a:pt x="0" y="0"/>
                  </a:moveTo>
                  <a:lnTo>
                    <a:pt x="5614542" y="0"/>
                  </a:lnTo>
                  <a:lnTo>
                    <a:pt x="5614542" y="3108208"/>
                  </a:lnTo>
                  <a:lnTo>
                    <a:pt x="0" y="3108208"/>
                  </a:lnTo>
                  <a:close/>
                </a:path>
              </a:pathLst>
            </a:custGeom>
            <a:solidFill>
              <a:srgbClr val="FFFC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627242" cy="3120908"/>
            </a:xfrm>
            <a:custGeom>
              <a:avLst/>
              <a:gdLst/>
              <a:ahLst/>
              <a:cxnLst/>
              <a:rect l="l" t="t" r="r" b="b"/>
              <a:pathLst>
                <a:path w="5627242" h="3120908">
                  <a:moveTo>
                    <a:pt x="5627242" y="3120908"/>
                  </a:moveTo>
                  <a:lnTo>
                    <a:pt x="0" y="3120908"/>
                  </a:lnTo>
                  <a:lnTo>
                    <a:pt x="0" y="0"/>
                  </a:lnTo>
                  <a:lnTo>
                    <a:pt x="5627242" y="0"/>
                  </a:lnTo>
                  <a:lnTo>
                    <a:pt x="5627242" y="3120908"/>
                  </a:lnTo>
                  <a:close/>
                  <a:moveTo>
                    <a:pt x="12700" y="3108208"/>
                  </a:moveTo>
                  <a:lnTo>
                    <a:pt x="5614542" y="3108208"/>
                  </a:lnTo>
                  <a:lnTo>
                    <a:pt x="5614542" y="12700"/>
                  </a:lnTo>
                  <a:lnTo>
                    <a:pt x="12700" y="12700"/>
                  </a:lnTo>
                  <a:lnTo>
                    <a:pt x="12700" y="310820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" name="Freeform 18"/>
          <p:cNvSpPr/>
          <p:nvPr/>
        </p:nvSpPr>
        <p:spPr>
          <a:xfrm flipH="1">
            <a:off x="13462639" y="4049552"/>
            <a:ext cx="7096987" cy="7019565"/>
          </a:xfrm>
          <a:custGeom>
            <a:avLst/>
            <a:gdLst/>
            <a:ahLst/>
            <a:cxnLst/>
            <a:rect l="l" t="t" r="r" b="b"/>
            <a:pathLst>
              <a:path w="7096987" h="7019565">
                <a:moveTo>
                  <a:pt x="7096987" y="0"/>
                </a:moveTo>
                <a:lnTo>
                  <a:pt x="0" y="0"/>
                </a:lnTo>
                <a:lnTo>
                  <a:pt x="0" y="7019566"/>
                </a:lnTo>
                <a:lnTo>
                  <a:pt x="7096987" y="7019566"/>
                </a:lnTo>
                <a:lnTo>
                  <a:pt x="709698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9" name="Group 19"/>
          <p:cNvGrpSpPr/>
          <p:nvPr/>
        </p:nvGrpSpPr>
        <p:grpSpPr>
          <a:xfrm>
            <a:off x="1868250" y="1504345"/>
            <a:ext cx="3901344" cy="1004011"/>
            <a:chOff x="0" y="0"/>
            <a:chExt cx="2005384" cy="516086"/>
          </a:xfrm>
        </p:grpSpPr>
        <p:sp>
          <p:nvSpPr>
            <p:cNvPr id="20" name="Freeform 20"/>
            <p:cNvSpPr/>
            <p:nvPr/>
          </p:nvSpPr>
          <p:spPr>
            <a:xfrm>
              <a:off x="48260" y="48260"/>
              <a:ext cx="1957124" cy="467826"/>
            </a:xfrm>
            <a:custGeom>
              <a:avLst/>
              <a:gdLst/>
              <a:ahLst/>
              <a:cxnLst/>
              <a:rect l="l" t="t" r="r" b="b"/>
              <a:pathLst>
                <a:path w="1957124" h="467826">
                  <a:moveTo>
                    <a:pt x="0" y="0"/>
                  </a:moveTo>
                  <a:lnTo>
                    <a:pt x="1957124" y="0"/>
                  </a:lnTo>
                  <a:lnTo>
                    <a:pt x="1957124" y="467826"/>
                  </a:lnTo>
                  <a:lnTo>
                    <a:pt x="0" y="467826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350" y="6350"/>
              <a:ext cx="1957124" cy="467826"/>
            </a:xfrm>
            <a:custGeom>
              <a:avLst/>
              <a:gdLst/>
              <a:ahLst/>
              <a:cxnLst/>
              <a:rect l="l" t="t" r="r" b="b"/>
              <a:pathLst>
                <a:path w="1957124" h="467826">
                  <a:moveTo>
                    <a:pt x="0" y="0"/>
                  </a:moveTo>
                  <a:lnTo>
                    <a:pt x="1957124" y="0"/>
                  </a:lnTo>
                  <a:lnTo>
                    <a:pt x="1957124" y="467826"/>
                  </a:lnTo>
                  <a:lnTo>
                    <a:pt x="0" y="467826"/>
                  </a:lnTo>
                  <a:close/>
                </a:path>
              </a:pathLst>
            </a:custGeom>
            <a:solidFill>
              <a:srgbClr val="FFFC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969824" cy="480526"/>
            </a:xfrm>
            <a:custGeom>
              <a:avLst/>
              <a:gdLst/>
              <a:ahLst/>
              <a:cxnLst/>
              <a:rect l="l" t="t" r="r" b="b"/>
              <a:pathLst>
                <a:path w="1969824" h="480526">
                  <a:moveTo>
                    <a:pt x="1969824" y="480526"/>
                  </a:moveTo>
                  <a:lnTo>
                    <a:pt x="0" y="480526"/>
                  </a:lnTo>
                  <a:lnTo>
                    <a:pt x="0" y="0"/>
                  </a:lnTo>
                  <a:lnTo>
                    <a:pt x="1969824" y="0"/>
                  </a:lnTo>
                  <a:lnTo>
                    <a:pt x="1969824" y="480526"/>
                  </a:lnTo>
                  <a:close/>
                  <a:moveTo>
                    <a:pt x="12700" y="467826"/>
                  </a:moveTo>
                  <a:lnTo>
                    <a:pt x="1957124" y="467826"/>
                  </a:lnTo>
                  <a:lnTo>
                    <a:pt x="1957124" y="12700"/>
                  </a:lnTo>
                  <a:lnTo>
                    <a:pt x="12700" y="12700"/>
                  </a:lnTo>
                  <a:lnTo>
                    <a:pt x="12700" y="467826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68250" y="3034766"/>
            <a:ext cx="11011016" cy="291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dirty="0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Survival (0 = No, 1 = Yes)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dirty="0" err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Pclass</a:t>
            </a:r>
            <a:r>
              <a:rPr lang="en-US" sz="2300" b="1" dirty="0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(Ticket class: 1st, 2nd, 3rd)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dirty="0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Sex (Male/Female)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dirty="0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Age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dirty="0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Fare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dirty="0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Embarked (Port of boarding: C, Q, S)</a:t>
            </a:r>
          </a:p>
          <a:p>
            <a:pPr algn="l">
              <a:lnSpc>
                <a:spcPts val="3312"/>
              </a:lnSpc>
            </a:pPr>
            <a:endParaRPr lang="en-US" sz="2300" b="1" dirty="0">
              <a:solidFill>
                <a:srgbClr val="5576C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868250" y="6474346"/>
            <a:ext cx="3011763" cy="81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 b="1" i="1">
                <a:solidFill>
                  <a:srgbClr val="244DB6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KEY INSIGHTS:</a:t>
            </a:r>
          </a:p>
          <a:p>
            <a:pPr algn="l">
              <a:lnSpc>
                <a:spcPts val="3312"/>
              </a:lnSpc>
            </a:pPr>
            <a:endParaRPr lang="en-US" sz="2300" b="1" i="1">
              <a:solidFill>
                <a:srgbClr val="244DB6"/>
              </a:solidFill>
              <a:latin typeface="Roboto Mono Bold Italics"/>
              <a:ea typeface="Roboto Mono Bold Italics"/>
              <a:cs typeface="Roboto Mono Bold Italics"/>
              <a:sym typeface="Roboto Mono Bold Itali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868250" y="6858394"/>
            <a:ext cx="9797107" cy="249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i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Higher-class passengers had a better survival rate.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i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Women had a significantly higher survival rate than men.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i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Higher fares were associated with better survival chances.</a:t>
            </a:r>
          </a:p>
          <a:p>
            <a:pPr algn="l">
              <a:lnSpc>
                <a:spcPts val="3312"/>
              </a:lnSpc>
            </a:pPr>
            <a:endParaRPr lang="en-US" sz="2300" b="1" i="1">
              <a:solidFill>
                <a:srgbClr val="5576CB"/>
              </a:solidFill>
              <a:latin typeface="Roboto Mono Medium Italics"/>
              <a:ea typeface="Roboto Mono Medium Italics"/>
              <a:cs typeface="Roboto Mono Medium Italics"/>
              <a:sym typeface="Roboto Mono Medium Itali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868861" y="1028700"/>
            <a:ext cx="6550278" cy="47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3180" spc="149">
                <a:solidFill>
                  <a:srgbClr val="244DB6"/>
                </a:solidFill>
                <a:latin typeface="Blink Twice"/>
                <a:ea typeface="Blink Twice"/>
                <a:cs typeface="Blink Twice"/>
                <a:sym typeface="Blink Twice"/>
              </a:rPr>
              <a:t>DATA EXPLORATION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68250" y="1747875"/>
            <a:ext cx="3645292" cy="924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1"/>
              </a:lnSpc>
            </a:pPr>
            <a:r>
              <a:rPr lang="en-US" sz="2199" spc="103" dirty="0">
                <a:solidFill>
                  <a:srgbClr val="244DB6"/>
                </a:solidFill>
                <a:latin typeface="Blink Twice"/>
                <a:ea typeface="Blink Twice"/>
                <a:cs typeface="Blink Twice"/>
                <a:sym typeface="Blink Twice"/>
              </a:rPr>
              <a:t>KEY FEATURES ANALYZED:</a:t>
            </a:r>
          </a:p>
          <a:p>
            <a:pPr algn="ctr">
              <a:lnSpc>
                <a:spcPts val="2331"/>
              </a:lnSpc>
            </a:pPr>
            <a:endParaRPr lang="en-US" sz="2199" spc="103" dirty="0">
              <a:solidFill>
                <a:srgbClr val="244DB6"/>
              </a:solidFill>
              <a:latin typeface="Blink Twice"/>
              <a:ea typeface="Blink Twice"/>
              <a:cs typeface="Blink Twice"/>
              <a:sym typeface="Blink Twic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868250" y="5630808"/>
            <a:ext cx="11011016" cy="86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299" b="1" i="1" dirty="0">
                <a:solidFill>
                  <a:srgbClr val="244DB6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MISSING VALUES: </a:t>
            </a:r>
            <a:r>
              <a:rPr lang="en-US" sz="2299" i="1" dirty="0">
                <a:solidFill>
                  <a:srgbClr val="244DB6"/>
                </a:solidFill>
                <a:latin typeface="Roboto Mono Italics"/>
                <a:ea typeface="Roboto Mono Italics"/>
                <a:cs typeface="Roboto Mono Italics"/>
                <a:sym typeface="Roboto Mono Italics"/>
              </a:rPr>
              <a:t>ADDRESSED MISSING VALUES FOR AGE, EMBARKED, AND FARE.</a:t>
            </a:r>
          </a:p>
          <a:p>
            <a:pPr algn="l">
              <a:lnSpc>
                <a:spcPts val="144"/>
              </a:lnSpc>
            </a:pPr>
            <a:endParaRPr lang="en-US" sz="2299" i="1" dirty="0">
              <a:solidFill>
                <a:srgbClr val="244DB6"/>
              </a:solidFill>
              <a:latin typeface="Roboto Mono Italics"/>
              <a:ea typeface="Roboto Mono Italics"/>
              <a:cs typeface="Roboto Mono Italics"/>
              <a:sym typeface="Roboto Mono Italic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07396" y="-585807"/>
            <a:ext cx="22902791" cy="11458614"/>
            <a:chOff x="0" y="0"/>
            <a:chExt cx="30537055" cy="152781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7630752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7630752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263478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891629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263478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2891629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473221" y="599189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0" y="0"/>
                </a:lnTo>
                <a:lnTo>
                  <a:pt x="195010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17645677" y="599189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3237078" y="2172689"/>
            <a:ext cx="13175662" cy="7344164"/>
            <a:chOff x="0" y="0"/>
            <a:chExt cx="5662802" cy="3156468"/>
          </a:xfrm>
        </p:grpSpPr>
        <p:sp>
          <p:nvSpPr>
            <p:cNvPr id="14" name="Freeform 14"/>
            <p:cNvSpPr/>
            <p:nvPr/>
          </p:nvSpPr>
          <p:spPr>
            <a:xfrm>
              <a:off x="48260" y="48260"/>
              <a:ext cx="5614542" cy="3108208"/>
            </a:xfrm>
            <a:custGeom>
              <a:avLst/>
              <a:gdLst/>
              <a:ahLst/>
              <a:cxnLst/>
              <a:rect l="l" t="t" r="r" b="b"/>
              <a:pathLst>
                <a:path w="5614542" h="3108208">
                  <a:moveTo>
                    <a:pt x="0" y="0"/>
                  </a:moveTo>
                  <a:lnTo>
                    <a:pt x="5614542" y="0"/>
                  </a:lnTo>
                  <a:lnTo>
                    <a:pt x="5614542" y="3108208"/>
                  </a:lnTo>
                  <a:lnTo>
                    <a:pt x="0" y="310820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50" y="6350"/>
              <a:ext cx="5614542" cy="3108208"/>
            </a:xfrm>
            <a:custGeom>
              <a:avLst/>
              <a:gdLst/>
              <a:ahLst/>
              <a:cxnLst/>
              <a:rect l="l" t="t" r="r" b="b"/>
              <a:pathLst>
                <a:path w="5614542" h="3108208">
                  <a:moveTo>
                    <a:pt x="0" y="0"/>
                  </a:moveTo>
                  <a:lnTo>
                    <a:pt x="5614542" y="0"/>
                  </a:lnTo>
                  <a:lnTo>
                    <a:pt x="5614542" y="3108208"/>
                  </a:lnTo>
                  <a:lnTo>
                    <a:pt x="0" y="3108208"/>
                  </a:lnTo>
                  <a:close/>
                </a:path>
              </a:pathLst>
            </a:custGeom>
            <a:solidFill>
              <a:srgbClr val="FFFC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5627242" cy="3120908"/>
            </a:xfrm>
            <a:custGeom>
              <a:avLst/>
              <a:gdLst/>
              <a:ahLst/>
              <a:cxnLst/>
              <a:rect l="l" t="t" r="r" b="b"/>
              <a:pathLst>
                <a:path w="5627242" h="3120908">
                  <a:moveTo>
                    <a:pt x="5627242" y="3120908"/>
                  </a:moveTo>
                  <a:lnTo>
                    <a:pt x="0" y="3120908"/>
                  </a:lnTo>
                  <a:lnTo>
                    <a:pt x="0" y="0"/>
                  </a:lnTo>
                  <a:lnTo>
                    <a:pt x="5627242" y="0"/>
                  </a:lnTo>
                  <a:lnTo>
                    <a:pt x="5627242" y="3120908"/>
                  </a:lnTo>
                  <a:close/>
                  <a:moveTo>
                    <a:pt x="12700" y="3108208"/>
                  </a:moveTo>
                  <a:lnTo>
                    <a:pt x="5614542" y="3108208"/>
                  </a:lnTo>
                  <a:lnTo>
                    <a:pt x="5614542" y="12700"/>
                  </a:lnTo>
                  <a:lnTo>
                    <a:pt x="12700" y="12700"/>
                  </a:lnTo>
                  <a:lnTo>
                    <a:pt x="12700" y="310820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33774" y="1688945"/>
            <a:ext cx="3901344" cy="1004011"/>
            <a:chOff x="0" y="0"/>
            <a:chExt cx="2005384" cy="516086"/>
          </a:xfrm>
        </p:grpSpPr>
        <p:sp>
          <p:nvSpPr>
            <p:cNvPr id="18" name="Freeform 18"/>
            <p:cNvSpPr/>
            <p:nvPr/>
          </p:nvSpPr>
          <p:spPr>
            <a:xfrm>
              <a:off x="48260" y="48260"/>
              <a:ext cx="1957124" cy="467826"/>
            </a:xfrm>
            <a:custGeom>
              <a:avLst/>
              <a:gdLst/>
              <a:ahLst/>
              <a:cxnLst/>
              <a:rect l="l" t="t" r="r" b="b"/>
              <a:pathLst>
                <a:path w="1957124" h="467826">
                  <a:moveTo>
                    <a:pt x="0" y="0"/>
                  </a:moveTo>
                  <a:lnTo>
                    <a:pt x="1957124" y="0"/>
                  </a:lnTo>
                  <a:lnTo>
                    <a:pt x="1957124" y="467826"/>
                  </a:lnTo>
                  <a:lnTo>
                    <a:pt x="0" y="467826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" y="6350"/>
              <a:ext cx="1957124" cy="467826"/>
            </a:xfrm>
            <a:custGeom>
              <a:avLst/>
              <a:gdLst/>
              <a:ahLst/>
              <a:cxnLst/>
              <a:rect l="l" t="t" r="r" b="b"/>
              <a:pathLst>
                <a:path w="1957124" h="467826">
                  <a:moveTo>
                    <a:pt x="0" y="0"/>
                  </a:moveTo>
                  <a:lnTo>
                    <a:pt x="1957124" y="0"/>
                  </a:lnTo>
                  <a:lnTo>
                    <a:pt x="1957124" y="467826"/>
                  </a:lnTo>
                  <a:lnTo>
                    <a:pt x="0" y="467826"/>
                  </a:lnTo>
                  <a:close/>
                </a:path>
              </a:pathLst>
            </a:custGeom>
            <a:solidFill>
              <a:srgbClr val="FFFC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969824" cy="480526"/>
            </a:xfrm>
            <a:custGeom>
              <a:avLst/>
              <a:gdLst/>
              <a:ahLst/>
              <a:cxnLst/>
              <a:rect l="l" t="t" r="r" b="b"/>
              <a:pathLst>
                <a:path w="1969824" h="480526">
                  <a:moveTo>
                    <a:pt x="1969824" y="480526"/>
                  </a:moveTo>
                  <a:lnTo>
                    <a:pt x="0" y="480526"/>
                  </a:lnTo>
                  <a:lnTo>
                    <a:pt x="0" y="0"/>
                  </a:lnTo>
                  <a:lnTo>
                    <a:pt x="1969824" y="0"/>
                  </a:lnTo>
                  <a:lnTo>
                    <a:pt x="1969824" y="480526"/>
                  </a:lnTo>
                  <a:close/>
                  <a:moveTo>
                    <a:pt x="12700" y="467826"/>
                  </a:moveTo>
                  <a:lnTo>
                    <a:pt x="1957124" y="467826"/>
                  </a:lnTo>
                  <a:lnTo>
                    <a:pt x="1957124" y="12700"/>
                  </a:lnTo>
                  <a:lnTo>
                    <a:pt x="12700" y="12700"/>
                  </a:lnTo>
                  <a:lnTo>
                    <a:pt x="12700" y="467826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1" name="Freeform 21"/>
          <p:cNvSpPr/>
          <p:nvPr/>
        </p:nvSpPr>
        <p:spPr>
          <a:xfrm>
            <a:off x="-4709633" y="3884557"/>
            <a:ext cx="10365707" cy="7196573"/>
          </a:xfrm>
          <a:custGeom>
            <a:avLst/>
            <a:gdLst/>
            <a:ahLst/>
            <a:cxnLst/>
            <a:rect l="l" t="t" r="r" b="b"/>
            <a:pathLst>
              <a:path w="10365707" h="7196573">
                <a:moveTo>
                  <a:pt x="0" y="0"/>
                </a:moveTo>
                <a:lnTo>
                  <a:pt x="10365707" y="0"/>
                </a:lnTo>
                <a:lnTo>
                  <a:pt x="10365707" y="7196574"/>
                </a:lnTo>
                <a:lnTo>
                  <a:pt x="0" y="7196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TextBox 22"/>
          <p:cNvSpPr txBox="1"/>
          <p:nvPr/>
        </p:nvSpPr>
        <p:spPr>
          <a:xfrm>
            <a:off x="4333774" y="2824234"/>
            <a:ext cx="11520055" cy="1653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Age predicted using regression.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Fare filled with the median value.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Embarked filled with the most common value.</a:t>
            </a:r>
          </a:p>
          <a:p>
            <a:pPr algn="l">
              <a:lnSpc>
                <a:spcPts val="3312"/>
              </a:lnSpc>
            </a:pPr>
            <a:endParaRPr lang="en-US" sz="2300" b="1">
              <a:solidFill>
                <a:srgbClr val="5576C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160264" y="4293145"/>
            <a:ext cx="4983736" cy="81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 b="1" i="1">
                <a:solidFill>
                  <a:srgbClr val="244DB6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FEATURE ENGINEERING:</a:t>
            </a:r>
          </a:p>
          <a:p>
            <a:pPr algn="l">
              <a:lnSpc>
                <a:spcPts val="3312"/>
              </a:lnSpc>
            </a:pPr>
            <a:endParaRPr lang="en-US" sz="2300" b="1" i="1">
              <a:solidFill>
                <a:srgbClr val="244DB6"/>
              </a:solidFill>
              <a:latin typeface="Roboto Mono Bold Italics"/>
              <a:ea typeface="Roboto Mono Bold Italics"/>
              <a:cs typeface="Roboto Mono Bold Italics"/>
              <a:sym typeface="Roboto Mono Bold Itali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261162" y="5143500"/>
            <a:ext cx="11973304" cy="81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i="1" dirty="0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Created new features: </a:t>
            </a:r>
            <a:r>
              <a:rPr lang="en-US" sz="2300" b="1" i="1" dirty="0" err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FamilySize</a:t>
            </a:r>
            <a:r>
              <a:rPr lang="en-US" sz="2300" b="1" i="1" dirty="0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, </a:t>
            </a:r>
            <a:r>
              <a:rPr lang="en-US" sz="2300" b="1" i="1" dirty="0" err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IsAlone</a:t>
            </a:r>
            <a:r>
              <a:rPr lang="en-US" sz="2300" b="1" i="1" dirty="0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, Title, Deck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i="1" dirty="0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Removed multicollinear features (e.g., </a:t>
            </a:r>
            <a:r>
              <a:rPr lang="en-US" sz="2300" b="1" i="1" dirty="0" err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AgeGroup</a:t>
            </a:r>
            <a:r>
              <a:rPr lang="en-US" sz="2300" b="1" i="1" dirty="0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, </a:t>
            </a:r>
            <a:r>
              <a:rPr lang="en-US" sz="2300" b="1" i="1" dirty="0" err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FareGroup</a:t>
            </a:r>
            <a:r>
              <a:rPr lang="en-US" sz="2300" b="1" i="1" dirty="0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).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45174" y="794200"/>
            <a:ext cx="6550278" cy="89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3180" spc="149">
                <a:solidFill>
                  <a:srgbClr val="244DB6"/>
                </a:solidFill>
                <a:latin typeface="Blink Twice"/>
                <a:ea typeface="Blink Twice"/>
                <a:cs typeface="Blink Twice"/>
                <a:sym typeface="Blink Twice"/>
              </a:rPr>
              <a:t>DATA PREPROCESSING &amp; FEATURE Engineering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33774" y="1817932"/>
            <a:ext cx="3645292" cy="924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1"/>
              </a:lnSpc>
            </a:pPr>
            <a:r>
              <a:rPr lang="en-US" sz="2199" spc="103">
                <a:solidFill>
                  <a:srgbClr val="244DB6"/>
                </a:solidFill>
                <a:latin typeface="Blink Twice"/>
                <a:ea typeface="Blink Twice"/>
                <a:cs typeface="Blink Twice"/>
                <a:sym typeface="Blink Twice"/>
              </a:rPr>
              <a:t>HANDLING MISSING VALUES:</a:t>
            </a:r>
          </a:p>
          <a:p>
            <a:pPr algn="ctr">
              <a:lnSpc>
                <a:spcPts val="2331"/>
              </a:lnSpc>
            </a:pPr>
            <a:endParaRPr lang="en-US" sz="2199" spc="103">
              <a:solidFill>
                <a:srgbClr val="244DB6"/>
              </a:solidFill>
              <a:latin typeface="Blink Twice"/>
              <a:ea typeface="Blink Twice"/>
              <a:cs typeface="Blink Twice"/>
              <a:sym typeface="Blink Twice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7645677" y="9492800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8" name="TextBox 28"/>
          <p:cNvSpPr txBox="1"/>
          <p:nvPr/>
        </p:nvSpPr>
        <p:spPr>
          <a:xfrm>
            <a:off x="4136577" y="6516653"/>
            <a:ext cx="4983736" cy="396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 b="1" i="1" dirty="0">
                <a:solidFill>
                  <a:srgbClr val="244DB6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ENCODING: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97669" y="7397018"/>
            <a:ext cx="11973304" cy="81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i="1" dirty="0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Converted categorical variables like Sex and Embarked into numerical values.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07396" y="-585807"/>
            <a:ext cx="22902791" cy="11458614"/>
            <a:chOff x="0" y="0"/>
            <a:chExt cx="30537055" cy="152781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7630752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7630752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263478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891629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263478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2891629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936485"/>
            <a:ext cx="15982432" cy="8414030"/>
            <a:chOff x="0" y="0"/>
            <a:chExt cx="6869131" cy="3616288"/>
          </a:xfrm>
        </p:grpSpPr>
        <p:sp>
          <p:nvSpPr>
            <p:cNvPr id="12" name="Freeform 12"/>
            <p:cNvSpPr/>
            <p:nvPr/>
          </p:nvSpPr>
          <p:spPr>
            <a:xfrm>
              <a:off x="48260" y="48260"/>
              <a:ext cx="6820871" cy="3568028"/>
            </a:xfrm>
            <a:custGeom>
              <a:avLst/>
              <a:gdLst/>
              <a:ahLst/>
              <a:cxnLst/>
              <a:rect l="l" t="t" r="r" b="b"/>
              <a:pathLst>
                <a:path w="6820871" h="3568028">
                  <a:moveTo>
                    <a:pt x="0" y="0"/>
                  </a:moveTo>
                  <a:lnTo>
                    <a:pt x="6820871" y="0"/>
                  </a:lnTo>
                  <a:lnTo>
                    <a:pt x="6820871" y="3568028"/>
                  </a:lnTo>
                  <a:lnTo>
                    <a:pt x="0" y="356802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50" y="6350"/>
              <a:ext cx="6820871" cy="3568028"/>
            </a:xfrm>
            <a:custGeom>
              <a:avLst/>
              <a:gdLst/>
              <a:ahLst/>
              <a:cxnLst/>
              <a:rect l="l" t="t" r="r" b="b"/>
              <a:pathLst>
                <a:path w="6820871" h="3568028">
                  <a:moveTo>
                    <a:pt x="0" y="0"/>
                  </a:moveTo>
                  <a:lnTo>
                    <a:pt x="6820871" y="0"/>
                  </a:lnTo>
                  <a:lnTo>
                    <a:pt x="6820871" y="3568028"/>
                  </a:lnTo>
                  <a:lnTo>
                    <a:pt x="0" y="3568028"/>
                  </a:lnTo>
                  <a:close/>
                </a:path>
              </a:pathLst>
            </a:custGeom>
            <a:solidFill>
              <a:srgbClr val="FFFC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833571" cy="3580728"/>
            </a:xfrm>
            <a:custGeom>
              <a:avLst/>
              <a:gdLst/>
              <a:ahLst/>
              <a:cxnLst/>
              <a:rect l="l" t="t" r="r" b="b"/>
              <a:pathLst>
                <a:path w="6833571" h="3580728">
                  <a:moveTo>
                    <a:pt x="6833571" y="3580728"/>
                  </a:moveTo>
                  <a:lnTo>
                    <a:pt x="0" y="3580728"/>
                  </a:lnTo>
                  <a:lnTo>
                    <a:pt x="0" y="0"/>
                  </a:lnTo>
                  <a:lnTo>
                    <a:pt x="6833571" y="0"/>
                  </a:lnTo>
                  <a:lnTo>
                    <a:pt x="6833571" y="3580728"/>
                  </a:lnTo>
                  <a:close/>
                  <a:moveTo>
                    <a:pt x="12700" y="3568028"/>
                  </a:moveTo>
                  <a:lnTo>
                    <a:pt x="6820871" y="3568028"/>
                  </a:lnTo>
                  <a:lnTo>
                    <a:pt x="6820871" y="12700"/>
                  </a:lnTo>
                  <a:lnTo>
                    <a:pt x="12700" y="12700"/>
                  </a:lnTo>
                  <a:lnTo>
                    <a:pt x="12700" y="356802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028700" y="2425715"/>
            <a:ext cx="15982432" cy="0"/>
          </a:xfrm>
          <a:prstGeom prst="line">
            <a:avLst/>
          </a:prstGeom>
          <a:ln w="19050" cap="flat">
            <a:solidFill>
              <a:srgbClr val="244DB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16"/>
          <p:cNvSpPr/>
          <p:nvPr/>
        </p:nvSpPr>
        <p:spPr>
          <a:xfrm>
            <a:off x="473221" y="599189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0" y="0"/>
                </a:lnTo>
                <a:lnTo>
                  <a:pt x="195010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Freeform 17"/>
          <p:cNvSpPr/>
          <p:nvPr/>
        </p:nvSpPr>
        <p:spPr>
          <a:xfrm>
            <a:off x="473221" y="9492800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0" y="0"/>
                </a:lnTo>
                <a:lnTo>
                  <a:pt x="195010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Freeform 18"/>
          <p:cNvSpPr/>
          <p:nvPr/>
        </p:nvSpPr>
        <p:spPr>
          <a:xfrm>
            <a:off x="17645677" y="599189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Freeform 19"/>
          <p:cNvSpPr/>
          <p:nvPr/>
        </p:nvSpPr>
        <p:spPr>
          <a:xfrm>
            <a:off x="17645677" y="9492800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TextBox 20"/>
          <p:cNvSpPr txBox="1"/>
          <p:nvPr/>
        </p:nvSpPr>
        <p:spPr>
          <a:xfrm>
            <a:off x="3091223" y="3281876"/>
            <a:ext cx="11857387" cy="5029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4031"/>
              </a:lnSpc>
              <a:buFont typeface="Arial"/>
              <a:buChar char="•"/>
            </a:pPr>
            <a:r>
              <a:rPr lang="en-US" sz="2799" b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Models Used:</a:t>
            </a:r>
          </a:p>
          <a:p>
            <a:pPr marL="1209036" lvl="2" indent="-403012" algn="l">
              <a:lnSpc>
                <a:spcPts val="4031"/>
              </a:lnSpc>
              <a:buFont typeface="Arial"/>
              <a:buChar char="⚬"/>
            </a:pPr>
            <a:r>
              <a:rPr lang="en-US" sz="2799" b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Logistic Regression (baseline model for interpretability)</a:t>
            </a:r>
          </a:p>
          <a:p>
            <a:pPr marL="1209036" lvl="2" indent="-403012" algn="l">
              <a:lnSpc>
                <a:spcPts val="4031"/>
              </a:lnSpc>
              <a:buFont typeface="Arial"/>
              <a:buChar char="⚬"/>
            </a:pPr>
            <a:r>
              <a:rPr lang="en-US" sz="2799" b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XGBoost (for advanced non-linear modeling)</a:t>
            </a:r>
          </a:p>
          <a:p>
            <a:pPr marL="604518" lvl="1" indent="-302259" algn="l">
              <a:lnSpc>
                <a:spcPts val="4031"/>
              </a:lnSpc>
              <a:buFont typeface="Arial"/>
              <a:buChar char="•"/>
            </a:pPr>
            <a:r>
              <a:rPr lang="en-US" sz="2799" b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Why These Models?</a:t>
            </a:r>
          </a:p>
          <a:p>
            <a:pPr marL="1209036" lvl="2" indent="-403012" algn="l">
              <a:lnSpc>
                <a:spcPts val="4031"/>
              </a:lnSpc>
              <a:buFont typeface="Arial"/>
              <a:buChar char="⚬"/>
            </a:pPr>
            <a:r>
              <a:rPr lang="en-US" sz="2799" b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Logistic Regression: Simple, interpretable, and effective for binary classification.</a:t>
            </a:r>
          </a:p>
          <a:p>
            <a:pPr marL="1209036" lvl="2" indent="-403012" algn="l">
              <a:lnSpc>
                <a:spcPts val="4031"/>
              </a:lnSpc>
              <a:buFont typeface="Arial"/>
              <a:buChar char="⚬"/>
            </a:pPr>
            <a:r>
              <a:rPr lang="en-US" sz="2799" b="1">
                <a:solidFill>
                  <a:srgbClr val="5576C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XGBoost: Handles complex relationships and interactions between features.</a:t>
            </a:r>
          </a:p>
          <a:p>
            <a:pPr algn="l">
              <a:lnSpc>
                <a:spcPts val="4031"/>
              </a:lnSpc>
            </a:pPr>
            <a:endParaRPr lang="en-US" sz="2799" b="1">
              <a:solidFill>
                <a:srgbClr val="5576C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4505213" y="5499719"/>
            <a:ext cx="4407342" cy="3758581"/>
          </a:xfrm>
          <a:custGeom>
            <a:avLst/>
            <a:gdLst/>
            <a:ahLst/>
            <a:cxnLst/>
            <a:rect l="l" t="t" r="r" b="b"/>
            <a:pathLst>
              <a:path w="4407342" h="3758581">
                <a:moveTo>
                  <a:pt x="0" y="0"/>
                </a:moveTo>
                <a:lnTo>
                  <a:pt x="4407342" y="0"/>
                </a:lnTo>
                <a:lnTo>
                  <a:pt x="4407342" y="3758581"/>
                </a:lnTo>
                <a:lnTo>
                  <a:pt x="0" y="3758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TextBox 22"/>
          <p:cNvSpPr txBox="1"/>
          <p:nvPr/>
        </p:nvSpPr>
        <p:spPr>
          <a:xfrm>
            <a:off x="5744777" y="1529839"/>
            <a:ext cx="6550278" cy="47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3180" spc="149">
                <a:solidFill>
                  <a:srgbClr val="244DB6"/>
                </a:solidFill>
                <a:latin typeface="Blink Twice"/>
                <a:ea typeface="Blink Twice"/>
                <a:cs typeface="Blink Twice"/>
                <a:sym typeface="Blink Twice"/>
              </a:rPr>
              <a:t>MODELING APPROACH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07396" y="-585807"/>
            <a:ext cx="22902791" cy="11458614"/>
            <a:chOff x="0" y="0"/>
            <a:chExt cx="30537055" cy="152781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7630752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7630752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263478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891629" y="0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6"/>
                  </a:lnTo>
                  <a:lnTo>
                    <a:pt x="0" y="7645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263478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5" y="0"/>
                  </a:lnTo>
                  <a:lnTo>
                    <a:pt x="7645425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2891629" y="7632726"/>
              <a:ext cx="7645426" cy="7645426"/>
            </a:xfrm>
            <a:custGeom>
              <a:avLst/>
              <a:gdLst/>
              <a:ahLst/>
              <a:cxnLst/>
              <a:rect l="l" t="t" r="r" b="b"/>
              <a:pathLst>
                <a:path w="7645426" h="7645426">
                  <a:moveTo>
                    <a:pt x="0" y="0"/>
                  </a:moveTo>
                  <a:lnTo>
                    <a:pt x="7645426" y="0"/>
                  </a:lnTo>
                  <a:lnTo>
                    <a:pt x="7645426" y="7645425"/>
                  </a:lnTo>
                  <a:lnTo>
                    <a:pt x="0" y="76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473221" y="599189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0" y="0"/>
                </a:lnTo>
                <a:lnTo>
                  <a:pt x="195010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17645677" y="599189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3505971" y="2148636"/>
            <a:ext cx="13175662" cy="7344164"/>
            <a:chOff x="0" y="0"/>
            <a:chExt cx="5662802" cy="3156468"/>
          </a:xfrm>
        </p:grpSpPr>
        <p:sp>
          <p:nvSpPr>
            <p:cNvPr id="14" name="Freeform 14"/>
            <p:cNvSpPr/>
            <p:nvPr/>
          </p:nvSpPr>
          <p:spPr>
            <a:xfrm>
              <a:off x="48260" y="48260"/>
              <a:ext cx="5614542" cy="3108208"/>
            </a:xfrm>
            <a:custGeom>
              <a:avLst/>
              <a:gdLst/>
              <a:ahLst/>
              <a:cxnLst/>
              <a:rect l="l" t="t" r="r" b="b"/>
              <a:pathLst>
                <a:path w="5614542" h="3108208">
                  <a:moveTo>
                    <a:pt x="0" y="0"/>
                  </a:moveTo>
                  <a:lnTo>
                    <a:pt x="5614542" y="0"/>
                  </a:lnTo>
                  <a:lnTo>
                    <a:pt x="5614542" y="3108208"/>
                  </a:lnTo>
                  <a:lnTo>
                    <a:pt x="0" y="310820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50" y="6350"/>
              <a:ext cx="5614542" cy="3108208"/>
            </a:xfrm>
            <a:custGeom>
              <a:avLst/>
              <a:gdLst/>
              <a:ahLst/>
              <a:cxnLst/>
              <a:rect l="l" t="t" r="r" b="b"/>
              <a:pathLst>
                <a:path w="5614542" h="3108208">
                  <a:moveTo>
                    <a:pt x="0" y="0"/>
                  </a:moveTo>
                  <a:lnTo>
                    <a:pt x="5614542" y="0"/>
                  </a:lnTo>
                  <a:lnTo>
                    <a:pt x="5614542" y="3108208"/>
                  </a:lnTo>
                  <a:lnTo>
                    <a:pt x="0" y="3108208"/>
                  </a:lnTo>
                  <a:close/>
                </a:path>
              </a:pathLst>
            </a:custGeom>
            <a:solidFill>
              <a:srgbClr val="FFFC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5627242" cy="3120908"/>
            </a:xfrm>
            <a:custGeom>
              <a:avLst/>
              <a:gdLst/>
              <a:ahLst/>
              <a:cxnLst/>
              <a:rect l="l" t="t" r="r" b="b"/>
              <a:pathLst>
                <a:path w="5627242" h="3120908">
                  <a:moveTo>
                    <a:pt x="5627242" y="3120908"/>
                  </a:moveTo>
                  <a:lnTo>
                    <a:pt x="0" y="3120908"/>
                  </a:lnTo>
                  <a:lnTo>
                    <a:pt x="0" y="0"/>
                  </a:lnTo>
                  <a:lnTo>
                    <a:pt x="5627242" y="0"/>
                  </a:lnTo>
                  <a:lnTo>
                    <a:pt x="5627242" y="3120908"/>
                  </a:lnTo>
                  <a:close/>
                  <a:moveTo>
                    <a:pt x="12700" y="3108208"/>
                  </a:moveTo>
                  <a:lnTo>
                    <a:pt x="5614542" y="3108208"/>
                  </a:lnTo>
                  <a:lnTo>
                    <a:pt x="5614542" y="12700"/>
                  </a:lnTo>
                  <a:lnTo>
                    <a:pt x="12700" y="12700"/>
                  </a:lnTo>
                  <a:lnTo>
                    <a:pt x="12700" y="3108208"/>
                  </a:lnTo>
                  <a:close/>
                </a:path>
              </a:pathLst>
            </a:custGeom>
            <a:solidFill>
              <a:srgbClr val="244DB6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Freeform 17"/>
          <p:cNvSpPr/>
          <p:nvPr/>
        </p:nvSpPr>
        <p:spPr>
          <a:xfrm>
            <a:off x="-4709633" y="3884557"/>
            <a:ext cx="10365707" cy="7196573"/>
          </a:xfrm>
          <a:custGeom>
            <a:avLst/>
            <a:gdLst/>
            <a:ahLst/>
            <a:cxnLst/>
            <a:rect l="l" t="t" r="r" b="b"/>
            <a:pathLst>
              <a:path w="10365707" h="7196573">
                <a:moveTo>
                  <a:pt x="0" y="0"/>
                </a:moveTo>
                <a:lnTo>
                  <a:pt x="10365707" y="0"/>
                </a:lnTo>
                <a:lnTo>
                  <a:pt x="10365707" y="7196574"/>
                </a:lnTo>
                <a:lnTo>
                  <a:pt x="0" y="7196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TextBox 18"/>
          <p:cNvSpPr txBox="1"/>
          <p:nvPr/>
        </p:nvSpPr>
        <p:spPr>
          <a:xfrm>
            <a:off x="4107150" y="2355078"/>
            <a:ext cx="4983736" cy="81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 b="1" i="1">
                <a:solidFill>
                  <a:srgbClr val="244DB6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LOGISTIC REGRESSION:</a:t>
            </a:r>
          </a:p>
          <a:p>
            <a:pPr algn="l">
              <a:lnSpc>
                <a:spcPts val="3312"/>
              </a:lnSpc>
            </a:pPr>
            <a:endParaRPr lang="en-US" sz="2300" b="1" i="1">
              <a:solidFill>
                <a:srgbClr val="244DB6"/>
              </a:solidFill>
              <a:latin typeface="Roboto Mono Bold Italics"/>
              <a:ea typeface="Roboto Mono Bold Italics"/>
              <a:cs typeface="Roboto Mono Bold Italics"/>
              <a:sym typeface="Roboto Mono Bold Itali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750511" y="794200"/>
            <a:ext cx="8686583" cy="89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3180" spc="149">
                <a:solidFill>
                  <a:srgbClr val="244DB6"/>
                </a:solidFill>
                <a:latin typeface="Blink Twice"/>
                <a:ea typeface="Blink Twice"/>
                <a:cs typeface="Blink Twice"/>
                <a:sym typeface="Blink Twice"/>
              </a:rPr>
              <a:t> MODEL PERFORMANCE &amp; EVALUATion</a:t>
            </a:r>
          </a:p>
        </p:txBody>
      </p:sp>
      <p:sp>
        <p:nvSpPr>
          <p:cNvPr id="20" name="Freeform 20"/>
          <p:cNvSpPr/>
          <p:nvPr/>
        </p:nvSpPr>
        <p:spPr>
          <a:xfrm>
            <a:off x="17645677" y="9492800"/>
            <a:ext cx="195011" cy="195011"/>
          </a:xfrm>
          <a:custGeom>
            <a:avLst/>
            <a:gdLst/>
            <a:ahLst/>
            <a:cxnLst/>
            <a:rect l="l" t="t" r="r" b="b"/>
            <a:pathLst>
              <a:path w="195011" h="195011">
                <a:moveTo>
                  <a:pt x="0" y="0"/>
                </a:moveTo>
                <a:lnTo>
                  <a:pt x="195011" y="0"/>
                </a:lnTo>
                <a:lnTo>
                  <a:pt x="195011" y="195011"/>
                </a:lnTo>
                <a:lnTo>
                  <a:pt x="0" y="1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TextBox 21"/>
          <p:cNvSpPr txBox="1"/>
          <p:nvPr/>
        </p:nvSpPr>
        <p:spPr>
          <a:xfrm>
            <a:off x="4402946" y="2967023"/>
            <a:ext cx="11973304" cy="123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 b="1" i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Training Accuracy: 0.7860 </a:t>
            </a:r>
          </a:p>
          <a:p>
            <a:pPr algn="l">
              <a:lnSpc>
                <a:spcPts val="3312"/>
              </a:lnSpc>
            </a:pPr>
            <a:r>
              <a:rPr lang="en-US" sz="2300" b="1" i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 Test Accuracy: 0.7939</a:t>
            </a:r>
          </a:p>
          <a:p>
            <a:pPr algn="l">
              <a:lnSpc>
                <a:spcPts val="3312"/>
              </a:lnSpc>
            </a:pPr>
            <a:endParaRPr lang="en-US" sz="2300" b="1" i="1">
              <a:solidFill>
                <a:srgbClr val="5576CB"/>
              </a:solidFill>
              <a:latin typeface="Roboto Mono Medium Italics"/>
              <a:ea typeface="Roboto Mono Medium Italics"/>
              <a:cs typeface="Roboto Mono Medium Italics"/>
              <a:sym typeface="Roboto Mono Medium Itali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877086" y="4711827"/>
            <a:ext cx="4983736" cy="81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 b="1" i="1">
                <a:solidFill>
                  <a:srgbClr val="244DB6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XGBOOST:</a:t>
            </a:r>
          </a:p>
          <a:p>
            <a:pPr algn="l">
              <a:lnSpc>
                <a:spcPts val="3312"/>
              </a:lnSpc>
            </a:pPr>
            <a:endParaRPr lang="en-US" sz="2300" b="1" i="1">
              <a:solidFill>
                <a:srgbClr val="244DB6"/>
              </a:solidFill>
              <a:latin typeface="Roboto Mono Bold Italics"/>
              <a:ea typeface="Roboto Mono Bold Italics"/>
              <a:cs typeface="Roboto Mono Bold Italics"/>
              <a:sym typeface="Roboto Mono Bold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402946" y="5179495"/>
            <a:ext cx="11973304" cy="123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 b="1" i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Training Accuracy: 0.8723</a:t>
            </a:r>
          </a:p>
          <a:p>
            <a:pPr algn="l">
              <a:lnSpc>
                <a:spcPts val="3312"/>
              </a:lnSpc>
            </a:pPr>
            <a:r>
              <a:rPr lang="en-US" sz="2300" b="1" i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Test Accuracy: 0.8321</a:t>
            </a:r>
          </a:p>
          <a:p>
            <a:pPr algn="l">
              <a:lnSpc>
                <a:spcPts val="3312"/>
              </a:lnSpc>
            </a:pPr>
            <a:endParaRPr lang="en-US" sz="2300" b="1" i="1">
              <a:solidFill>
                <a:srgbClr val="5576CB"/>
              </a:solidFill>
              <a:latin typeface="Roboto Mono Medium Italics"/>
              <a:ea typeface="Roboto Mono Medium Italics"/>
              <a:cs typeface="Roboto Mono Medium Italics"/>
              <a:sym typeface="Roboto Mono Medium Itali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107150" y="6667123"/>
            <a:ext cx="4983736" cy="81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 b="1" i="1">
                <a:solidFill>
                  <a:srgbClr val="244DB6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COMPARISON:</a:t>
            </a:r>
          </a:p>
          <a:p>
            <a:pPr algn="l">
              <a:lnSpc>
                <a:spcPts val="3312"/>
              </a:lnSpc>
            </a:pPr>
            <a:endParaRPr lang="en-US" sz="2300" b="1" i="1">
              <a:solidFill>
                <a:srgbClr val="244DB6"/>
              </a:solidFill>
              <a:latin typeface="Roboto Mono Bold Italics"/>
              <a:ea typeface="Roboto Mono Bold Italics"/>
              <a:cs typeface="Roboto Mono Bold Italics"/>
              <a:sym typeface="Roboto Mono Bold Itali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402946" y="7435219"/>
            <a:ext cx="11973304" cy="123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i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XGBoost outperformed Logistic Regression in accuracy and recall.</a:t>
            </a:r>
          </a:p>
          <a:p>
            <a:pPr marL="496571" lvl="1" indent="-248285" algn="l">
              <a:lnSpc>
                <a:spcPts val="3312"/>
              </a:lnSpc>
              <a:buFont typeface="Arial"/>
              <a:buChar char="•"/>
            </a:pPr>
            <a:r>
              <a:rPr lang="en-US" sz="2300" b="1" i="1">
                <a:solidFill>
                  <a:srgbClr val="5576CB"/>
                </a:solidFill>
                <a:latin typeface="Roboto Mono Medium Italics"/>
                <a:ea typeface="Roboto Mono Medium Italics"/>
                <a:cs typeface="Roboto Mono Medium Italics"/>
                <a:sym typeface="Roboto Mono Medium Italics"/>
              </a:rPr>
              <a:t>Logistic Regression provided better interpretability.</a:t>
            </a:r>
          </a:p>
          <a:p>
            <a:pPr algn="l">
              <a:lnSpc>
                <a:spcPts val="3312"/>
              </a:lnSpc>
            </a:pPr>
            <a:endParaRPr lang="en-US" sz="2300" b="1" i="1">
              <a:solidFill>
                <a:srgbClr val="5576CB"/>
              </a:solidFill>
              <a:latin typeface="Roboto Mono Medium Italics"/>
              <a:ea typeface="Roboto Mono Medium Italics"/>
              <a:cs typeface="Roboto Mono Medium Italics"/>
              <a:sym typeface="Roboto Mono Medium Italics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Custom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Calibri</vt:lpstr>
      <vt:lpstr>Canva Sans Bold</vt:lpstr>
      <vt:lpstr>Arial</vt:lpstr>
      <vt:lpstr>Blink Twice</vt:lpstr>
      <vt:lpstr>Roboto Mono Bold Italics</vt:lpstr>
      <vt:lpstr>Roboto Mono Medium Italics</vt:lpstr>
      <vt:lpstr>Roboto Mono Medium</vt:lpstr>
      <vt:lpstr>Roboto Mono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Natalia_Sagaradze</dc:title>
  <cp:lastModifiedBy>Miranda Kupatadze</cp:lastModifiedBy>
  <cp:revision>3</cp:revision>
  <dcterms:created xsi:type="dcterms:W3CDTF">2006-08-16T00:00:00Z</dcterms:created>
  <dcterms:modified xsi:type="dcterms:W3CDTF">2026-01-11T19:08:11Z</dcterms:modified>
  <dc:identifier>DAGXsi4c4UE</dc:identifier>
</cp:coreProperties>
</file>